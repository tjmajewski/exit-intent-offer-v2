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6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758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pps.shopify.com/respar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5943600" cy="594360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 err="1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200" b="1" kern="0" spc="200" dirty="0" err="1" smtClean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esparq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intent,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evolved.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breeds, tests, and evolves your recovery </a:t>
            </a:r>
            <a:r>
              <a:rPr lang="en-US" sz="18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modal, </a:t>
            </a: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 abandoning visitor sees the version most likely to convert them.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checkout is bleeding revenue.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754880" cy="3931920"/>
          </a:xfrm>
          <a:prstGeom prst="rect">
            <a:avLst/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031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128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online shopping carts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abandoned before purchase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394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Baymard Institute, 2024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52160" y="19202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exit popups are stuck in 2015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852160" y="2606040"/>
            <a:ext cx="320040" cy="3200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2560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email capture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28803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conversion. Most emails never get opened.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3657600"/>
            <a:ext cx="320040" cy="3200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3611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A/B testing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39319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weeks. Tests 2–3 variants at most.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4709160"/>
            <a:ext cx="320040" cy="3200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4709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4663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discounts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55080" y="49834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buyers get unnecessary discounts. Low-intent browsers don't get enough.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Resparq — Exit intent, evolved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704320" y="6492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Evolution finds what converts.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Resparq doesn't just test </a:t>
            </a:r>
            <a:r>
              <a:rPr lang="en-US" sz="16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variants, 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breeds them. Every 100 impressions, poor performers die. Top performers cross-breed and mutate. A champion emerges.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743200"/>
            <a:ext cx="260604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63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seeds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42976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variants with different headlines, CTAs, offers, designs.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274320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2743200"/>
            <a:ext cx="2606040" cy="10972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3063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1+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selection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03320" y="42976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performers killed. Top performers breed offspring.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74320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2743200"/>
            <a:ext cx="260604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063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3+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Champion emerges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37960" y="42976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statistical confidence after 500+ impressions.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0" y="274320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0" y="2743200"/>
            <a:ext cx="260604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9372600" y="3063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726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stops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372600" y="42976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generation 5–10% better. Fully autonomous.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AI that gets smarter every day. You do nothing.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Resparq — Exit intent, evolved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704320" y="6492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TESTS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concepts evolve simultaneously.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A/B tools change one thing at a time. Resparq evolves every concept in parallel to find the single best combination for your store.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74320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697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303580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offer copy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47288" y="246888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0168" y="274320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630168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61688" y="2697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Subhead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61688" y="303580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context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54496" y="246888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7376" y="274320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68896" y="2697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subhead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68896" y="303580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less is more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61704" y="246888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44584" y="274320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9244584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976104" y="2697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button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976104" y="303580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Action-driving copy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904488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178808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178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554480" y="41330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amount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54480" y="447141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5–25% / $ / threshold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47288" y="3904488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30168" y="4178808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3630168" y="4178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361688" y="41330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361688" y="447141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on/off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54496" y="3904488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37376" y="4178808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6437376" y="4178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168896" y="41330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68896" y="447141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or checkout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61704" y="3904488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44584" y="4178808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9244584" y="4178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976104" y="41330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type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976104" y="447141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/ idle / both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" y="5340096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" y="5614416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" y="56144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⌛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1554480" y="556869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seconds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554480" y="590702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idle fires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47288" y="5340096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30168" y="5614416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2" name="Text 50"/>
          <p:cNvSpPr/>
          <p:nvPr/>
        </p:nvSpPr>
        <p:spPr>
          <a:xfrm>
            <a:off x="3630168" y="56144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4361688" y="556869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template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361688" y="590702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cohesive looks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54496" y="5340096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37376" y="5614416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7" name="Text 55"/>
          <p:cNvSpPr/>
          <p:nvPr/>
        </p:nvSpPr>
        <p:spPr>
          <a:xfrm>
            <a:off x="6437376" y="56144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7168896" y="556869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168896" y="590702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backdrop on/off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hundreds of millions of possible combinations — all tested autonomously.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Resparq — Exit intent, evolved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1704320" y="6492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DESIGNS (1–5)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cohesive design templates.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template locks colors, layout, button style, and typography into a cohesive look. Copy and offer still evolve independently.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148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5915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187452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Shape 8"/>
          <p:cNvSpPr/>
          <p:nvPr/>
        </p:nvSpPr>
        <p:spPr>
          <a:xfrm>
            <a:off x="138988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189280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Shape 11"/>
          <p:cNvSpPr/>
          <p:nvPr/>
        </p:nvSpPr>
        <p:spPr>
          <a:xfrm>
            <a:off x="138988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Shape 12"/>
          <p:cNvSpPr/>
          <p:nvPr/>
        </p:nvSpPr>
        <p:spPr>
          <a:xfrm>
            <a:off x="189280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2743200"/>
            <a:ext cx="1874520" cy="1828800"/>
          </a:xfrm>
          <a:prstGeom prst="rect">
            <a:avLst/>
          </a:prstGeom>
          <a:solidFill>
            <a:srgbClr val="0F172A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00100" y="30632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726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Wait! 15% off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7260" y="34472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 — thank-you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82980" y="3813048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982980" y="38130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Discount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62686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846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Centered, soft shadow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71800" y="2286000"/>
            <a:ext cx="2148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063240" y="235915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06324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08960" y="2743200"/>
            <a:ext cx="187452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321868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Shape 26"/>
          <p:cNvSpPr/>
          <p:nvPr/>
        </p:nvSpPr>
        <p:spPr>
          <a:xfrm>
            <a:off x="372160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9" name="Shape 27"/>
          <p:cNvSpPr/>
          <p:nvPr/>
        </p:nvSpPr>
        <p:spPr>
          <a:xfrm>
            <a:off x="422452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Shape 28"/>
          <p:cNvSpPr/>
          <p:nvPr/>
        </p:nvSpPr>
        <p:spPr>
          <a:xfrm>
            <a:off x="321868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372160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2" name="Shape 30"/>
          <p:cNvSpPr/>
          <p:nvPr/>
        </p:nvSpPr>
        <p:spPr>
          <a:xfrm>
            <a:off x="422452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3" name="Shape 31"/>
          <p:cNvSpPr/>
          <p:nvPr/>
        </p:nvSpPr>
        <p:spPr>
          <a:xfrm>
            <a:off x="3108960" y="2743200"/>
            <a:ext cx="1874520" cy="1828800"/>
          </a:xfrm>
          <a:prstGeom prst="rect">
            <a:avLst/>
          </a:prstGeom>
          <a:solidFill>
            <a:srgbClr val="0F172A">
              <a:alpha val="5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994660" y="3131820"/>
            <a:ext cx="21031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994660" y="3131820"/>
            <a:ext cx="822960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2994660" y="34061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3909060" y="32689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discount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09060" y="34792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ready.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09060" y="3817620"/>
            <a:ext cx="1051560" cy="256032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3909060" y="38176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063240" y="462686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Hero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063240" y="4846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left, copy right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303520" y="2286000"/>
            <a:ext cx="2148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394960" y="235915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539496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40680" y="2743200"/>
            <a:ext cx="187452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Shape 45"/>
          <p:cNvSpPr/>
          <p:nvPr/>
        </p:nvSpPr>
        <p:spPr>
          <a:xfrm>
            <a:off x="555040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8" name="Shape 46"/>
          <p:cNvSpPr/>
          <p:nvPr/>
        </p:nvSpPr>
        <p:spPr>
          <a:xfrm>
            <a:off x="605332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9" name="Shape 47"/>
          <p:cNvSpPr/>
          <p:nvPr/>
        </p:nvSpPr>
        <p:spPr>
          <a:xfrm>
            <a:off x="655624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0" name="Shape 48"/>
          <p:cNvSpPr/>
          <p:nvPr/>
        </p:nvSpPr>
        <p:spPr>
          <a:xfrm>
            <a:off x="555040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1" name="Shape 49"/>
          <p:cNvSpPr/>
          <p:nvPr/>
        </p:nvSpPr>
        <p:spPr>
          <a:xfrm>
            <a:off x="605332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2" name="Shape 50"/>
          <p:cNvSpPr/>
          <p:nvPr/>
        </p:nvSpPr>
        <p:spPr>
          <a:xfrm>
            <a:off x="655624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3" name="Shape 51"/>
          <p:cNvSpPr/>
          <p:nvPr/>
        </p:nvSpPr>
        <p:spPr>
          <a:xfrm>
            <a:off x="5440680" y="2743200"/>
            <a:ext cx="1874520" cy="1828800"/>
          </a:xfrm>
          <a:prstGeom prst="rect">
            <a:avLst/>
          </a:prstGeom>
          <a:solidFill>
            <a:srgbClr val="0F172A">
              <a:alpha val="5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440680" y="2743200"/>
            <a:ext cx="187452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Text 53"/>
          <p:cNvSpPr/>
          <p:nvPr/>
        </p:nvSpPr>
        <p:spPr>
          <a:xfrm>
            <a:off x="5532120" y="2798064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leave yet — 15% off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46520" y="2816352"/>
            <a:ext cx="777240" cy="265176"/>
          </a:xfrm>
          <a:prstGeom prst="roundRect">
            <a:avLst>
              <a:gd name="adj" fmla="val 10345"/>
            </a:avLst>
          </a:pr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6446520" y="2816352"/>
            <a:ext cx="777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it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394960" y="462686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Banner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394960" y="4846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Slim, non-intrusive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635240" y="2286000"/>
            <a:ext cx="2148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726680" y="235915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2" name="Text 60"/>
          <p:cNvSpPr/>
          <p:nvPr/>
        </p:nvSpPr>
        <p:spPr>
          <a:xfrm>
            <a:off x="772668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772400" y="2743200"/>
            <a:ext cx="187452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4" name="Shape 62"/>
          <p:cNvSpPr/>
          <p:nvPr/>
        </p:nvSpPr>
        <p:spPr>
          <a:xfrm>
            <a:off x="788212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5" name="Shape 63"/>
          <p:cNvSpPr/>
          <p:nvPr/>
        </p:nvSpPr>
        <p:spPr>
          <a:xfrm>
            <a:off x="838504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6" name="Shape 64"/>
          <p:cNvSpPr/>
          <p:nvPr/>
        </p:nvSpPr>
        <p:spPr>
          <a:xfrm>
            <a:off x="888796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7" name="Shape 65"/>
          <p:cNvSpPr/>
          <p:nvPr/>
        </p:nvSpPr>
        <p:spPr>
          <a:xfrm>
            <a:off x="788212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8" name="Shape 66"/>
          <p:cNvSpPr/>
          <p:nvPr/>
        </p:nvSpPr>
        <p:spPr>
          <a:xfrm>
            <a:off x="838504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9" name="Shape 67"/>
          <p:cNvSpPr/>
          <p:nvPr/>
        </p:nvSpPr>
        <p:spPr>
          <a:xfrm>
            <a:off x="888796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0" name="Shape 68"/>
          <p:cNvSpPr/>
          <p:nvPr/>
        </p:nvSpPr>
        <p:spPr>
          <a:xfrm>
            <a:off x="7772400" y="2743200"/>
            <a:ext cx="1874520" cy="1828800"/>
          </a:xfrm>
          <a:prstGeom prst="rect">
            <a:avLst/>
          </a:prstGeom>
          <a:solidFill>
            <a:srgbClr val="0F172A">
              <a:alpha val="5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7772400" y="3383280"/>
            <a:ext cx="1874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8526780" y="3456432"/>
            <a:ext cx="36576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3" name="Text 71"/>
          <p:cNvSpPr/>
          <p:nvPr/>
        </p:nvSpPr>
        <p:spPr>
          <a:xfrm>
            <a:off x="7955280" y="35844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off for you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7955280" y="38587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your order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046720" y="4187952"/>
            <a:ext cx="1325880" cy="292608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/>
        </p:spPr>
      </p:sp>
      <p:sp>
        <p:nvSpPr>
          <p:cNvPr id="76" name="Text 74"/>
          <p:cNvSpPr/>
          <p:nvPr/>
        </p:nvSpPr>
        <p:spPr>
          <a:xfrm>
            <a:off x="8046720" y="41879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Discount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726680" y="462686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Sheet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726680" y="4846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966960" y="2286000"/>
            <a:ext cx="2148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10058400" y="235915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1" name="Text 79"/>
          <p:cNvSpPr/>
          <p:nvPr/>
        </p:nvSpPr>
        <p:spPr>
          <a:xfrm>
            <a:off x="1005840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10104120" y="2743200"/>
            <a:ext cx="187452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3" name="Shape 81"/>
          <p:cNvSpPr/>
          <p:nvPr/>
        </p:nvSpPr>
        <p:spPr>
          <a:xfrm>
            <a:off x="1021384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4" name="Shape 82"/>
          <p:cNvSpPr/>
          <p:nvPr/>
        </p:nvSpPr>
        <p:spPr>
          <a:xfrm>
            <a:off x="1071676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5" name="Shape 83"/>
          <p:cNvSpPr/>
          <p:nvPr/>
        </p:nvSpPr>
        <p:spPr>
          <a:xfrm>
            <a:off x="1121968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6" name="Shape 84"/>
          <p:cNvSpPr/>
          <p:nvPr/>
        </p:nvSpPr>
        <p:spPr>
          <a:xfrm>
            <a:off x="1021384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7" name="Shape 85"/>
          <p:cNvSpPr/>
          <p:nvPr/>
        </p:nvSpPr>
        <p:spPr>
          <a:xfrm>
            <a:off x="1071676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8" name="Shape 86"/>
          <p:cNvSpPr/>
          <p:nvPr/>
        </p:nvSpPr>
        <p:spPr>
          <a:xfrm>
            <a:off x="1121968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9" name="Shape 87"/>
          <p:cNvSpPr/>
          <p:nvPr/>
        </p:nvSpPr>
        <p:spPr>
          <a:xfrm>
            <a:off x="10104120" y="2743200"/>
            <a:ext cx="1874520" cy="1828800"/>
          </a:xfrm>
          <a:prstGeom prst="rect">
            <a:avLst/>
          </a:prstGeom>
          <a:solidFill>
            <a:srgbClr val="0F172A">
              <a:alpha val="55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10081260" y="3063240"/>
            <a:ext cx="1920240" cy="1188720"/>
          </a:xfrm>
          <a:prstGeom prst="rect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10008108" y="3575304"/>
            <a:ext cx="164592" cy="164592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92" name="Shape 90"/>
          <p:cNvSpPr/>
          <p:nvPr/>
        </p:nvSpPr>
        <p:spPr>
          <a:xfrm>
            <a:off x="11919204" y="3575304"/>
            <a:ext cx="164592" cy="164592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93" name="Text 91"/>
          <p:cNvSpPr/>
          <p:nvPr/>
        </p:nvSpPr>
        <p:spPr>
          <a:xfrm>
            <a:off x="10081260" y="31729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COUPON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10081260" y="34107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83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 OFF</a:t>
            </a:r>
            <a:endParaRPr lang="en-US" sz="2200" dirty="0"/>
          </a:p>
        </p:txBody>
      </p:sp>
      <p:sp>
        <p:nvSpPr>
          <p:cNvPr id="95" name="Shape 93"/>
          <p:cNvSpPr/>
          <p:nvPr/>
        </p:nvSpPr>
        <p:spPr>
          <a:xfrm>
            <a:off x="10584180" y="3886200"/>
            <a:ext cx="914400" cy="274320"/>
          </a:xfrm>
          <a:prstGeom prst="roundRect">
            <a:avLst>
              <a:gd name="adj" fmla="val 10000"/>
            </a:avLst>
          </a:prstGeom>
          <a:solidFill>
            <a:srgbClr val="92400E"/>
          </a:solidFill>
          <a:ln/>
        </p:spPr>
      </p:sp>
      <p:sp>
        <p:nvSpPr>
          <p:cNvPr id="96" name="Text 94"/>
          <p:cNvSpPr/>
          <p:nvPr/>
        </p:nvSpPr>
        <p:spPr>
          <a:xfrm>
            <a:off x="10584180" y="3886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Code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10058400" y="462686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Ticket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0058400" y="4846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Gamified, dashed edge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Resparq — Exit intent, evolved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11704320" y="6492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DESIGNS (6–10)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…and five more.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template locks colors, layout, button style, and typography into a cohesive look. Copy and offer still evolve independently.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148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5915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187452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Shape 8"/>
          <p:cNvSpPr/>
          <p:nvPr/>
        </p:nvSpPr>
        <p:spPr>
          <a:xfrm>
            <a:off x="138988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189280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Shape 11"/>
          <p:cNvSpPr/>
          <p:nvPr/>
        </p:nvSpPr>
        <p:spPr>
          <a:xfrm>
            <a:off x="138988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Shape 12"/>
          <p:cNvSpPr/>
          <p:nvPr/>
        </p:nvSpPr>
        <p:spPr>
          <a:xfrm>
            <a:off x="189280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2743200"/>
            <a:ext cx="1874520" cy="1828800"/>
          </a:xfrm>
          <a:prstGeom prst="rect">
            <a:avLst/>
          </a:prstGeom>
          <a:solidFill>
            <a:srgbClr val="0F172A">
              <a:alpha val="5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200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15%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68680" y="3703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you go.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165860" y="4160520"/>
            <a:ext cx="1097280" cy="27432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586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62686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Text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846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Editorial, no container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71800" y="2286000"/>
            <a:ext cx="2148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063240" y="235915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306324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08960" y="2743200"/>
            <a:ext cx="187452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321868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Shape 25"/>
          <p:cNvSpPr/>
          <p:nvPr/>
        </p:nvSpPr>
        <p:spPr>
          <a:xfrm>
            <a:off x="372160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Shape 26"/>
          <p:cNvSpPr/>
          <p:nvPr/>
        </p:nvSpPr>
        <p:spPr>
          <a:xfrm>
            <a:off x="422452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9" name="Shape 27"/>
          <p:cNvSpPr/>
          <p:nvPr/>
        </p:nvSpPr>
        <p:spPr>
          <a:xfrm>
            <a:off x="321868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Shape 28"/>
          <p:cNvSpPr/>
          <p:nvPr/>
        </p:nvSpPr>
        <p:spPr>
          <a:xfrm>
            <a:off x="372160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422452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2" name="Shape 30"/>
          <p:cNvSpPr/>
          <p:nvPr/>
        </p:nvSpPr>
        <p:spPr>
          <a:xfrm>
            <a:off x="3108960" y="2743200"/>
            <a:ext cx="1874520" cy="1828800"/>
          </a:xfrm>
          <a:prstGeom prst="rect">
            <a:avLst/>
          </a:prstGeom>
          <a:solidFill>
            <a:srgbClr val="0F172A">
              <a:alpha val="5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131820" y="2948940"/>
            <a:ext cx="1828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131820" y="30403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discount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68980" y="3332988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A3A3A3"/>
          </a:solidFill>
          <a:ln/>
        </p:spPr>
      </p:sp>
      <p:sp>
        <p:nvSpPr>
          <p:cNvPr id="36" name="Text 34"/>
          <p:cNvSpPr/>
          <p:nvPr/>
        </p:nvSpPr>
        <p:spPr>
          <a:xfrm>
            <a:off x="3268980" y="33878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REVEAL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68980" y="35707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? ?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360420" y="3973068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3360420" y="39730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Reward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063240" y="462686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Reveal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063240" y="4846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playful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03520" y="2286000"/>
            <a:ext cx="2148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394960" y="235915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539496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40680" y="2743200"/>
            <a:ext cx="187452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6" name="Shape 44"/>
          <p:cNvSpPr/>
          <p:nvPr/>
        </p:nvSpPr>
        <p:spPr>
          <a:xfrm>
            <a:off x="555040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7" name="Shape 45"/>
          <p:cNvSpPr/>
          <p:nvPr/>
        </p:nvSpPr>
        <p:spPr>
          <a:xfrm>
            <a:off x="605332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8" name="Shape 46"/>
          <p:cNvSpPr/>
          <p:nvPr/>
        </p:nvSpPr>
        <p:spPr>
          <a:xfrm>
            <a:off x="655624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9" name="Shape 47"/>
          <p:cNvSpPr/>
          <p:nvPr/>
        </p:nvSpPr>
        <p:spPr>
          <a:xfrm>
            <a:off x="555040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0" name="Shape 48"/>
          <p:cNvSpPr/>
          <p:nvPr/>
        </p:nvSpPr>
        <p:spPr>
          <a:xfrm>
            <a:off x="605332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1" name="Shape 49"/>
          <p:cNvSpPr/>
          <p:nvPr/>
        </p:nvSpPr>
        <p:spPr>
          <a:xfrm>
            <a:off x="655624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2" name="Shape 50"/>
          <p:cNvSpPr/>
          <p:nvPr/>
        </p:nvSpPr>
        <p:spPr>
          <a:xfrm>
            <a:off x="5440680" y="2743200"/>
            <a:ext cx="1874520" cy="1828800"/>
          </a:xfrm>
          <a:prstGeom prst="rect">
            <a:avLst/>
          </a:prstGeom>
          <a:solidFill>
            <a:srgbClr val="0F172A">
              <a:alpha val="5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372100" y="294894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372100" y="2948940"/>
            <a:ext cx="201168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5" name="Shape 53"/>
          <p:cNvSpPr/>
          <p:nvPr/>
        </p:nvSpPr>
        <p:spPr>
          <a:xfrm>
            <a:off x="5646420" y="3150108"/>
            <a:ext cx="411480" cy="41148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56" name="Text 54"/>
          <p:cNvSpPr/>
          <p:nvPr/>
        </p:nvSpPr>
        <p:spPr>
          <a:xfrm>
            <a:off x="5646420" y="31683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646420" y="344271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</a:t>
            </a:r>
            <a:endParaRPr lang="en-US" sz="500" dirty="0"/>
          </a:p>
        </p:txBody>
      </p:sp>
      <p:sp>
        <p:nvSpPr>
          <p:cNvPr id="58" name="Shape 56"/>
          <p:cNvSpPr/>
          <p:nvPr/>
        </p:nvSpPr>
        <p:spPr>
          <a:xfrm>
            <a:off x="6149340" y="3150108"/>
            <a:ext cx="411480" cy="41148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59" name="Text 57"/>
          <p:cNvSpPr/>
          <p:nvPr/>
        </p:nvSpPr>
        <p:spPr>
          <a:xfrm>
            <a:off x="6149340" y="31683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149340" y="344271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500" dirty="0"/>
          </a:p>
        </p:txBody>
      </p:sp>
      <p:sp>
        <p:nvSpPr>
          <p:cNvPr id="61" name="Shape 59"/>
          <p:cNvSpPr/>
          <p:nvPr/>
        </p:nvSpPr>
        <p:spPr>
          <a:xfrm>
            <a:off x="6652260" y="3150108"/>
            <a:ext cx="411480" cy="41148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62" name="Text 60"/>
          <p:cNvSpPr/>
          <p:nvPr/>
        </p:nvSpPr>
        <p:spPr>
          <a:xfrm>
            <a:off x="6652260" y="31683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6652260" y="344271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5509260" y="36804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off expires soon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600700" y="4000500"/>
            <a:ext cx="1554480" cy="27432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/>
        </p:spPr>
      </p:sp>
      <p:sp>
        <p:nvSpPr>
          <p:cNvPr id="66" name="Text 64"/>
          <p:cNvSpPr/>
          <p:nvPr/>
        </p:nvSpPr>
        <p:spPr>
          <a:xfrm>
            <a:off x="5600700" y="40005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NOW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394960" y="462686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Timer-Front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394960" y="4846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native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635240" y="2286000"/>
            <a:ext cx="2148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7726680" y="235915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1" name="Text 69"/>
          <p:cNvSpPr/>
          <p:nvPr/>
        </p:nvSpPr>
        <p:spPr>
          <a:xfrm>
            <a:off x="772668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772400" y="2743200"/>
            <a:ext cx="187452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3" name="Shape 71"/>
          <p:cNvSpPr/>
          <p:nvPr/>
        </p:nvSpPr>
        <p:spPr>
          <a:xfrm>
            <a:off x="788212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4" name="Shape 72"/>
          <p:cNvSpPr/>
          <p:nvPr/>
        </p:nvSpPr>
        <p:spPr>
          <a:xfrm>
            <a:off x="838504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5" name="Shape 73"/>
          <p:cNvSpPr/>
          <p:nvPr/>
        </p:nvSpPr>
        <p:spPr>
          <a:xfrm>
            <a:off x="888796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6" name="Shape 74"/>
          <p:cNvSpPr/>
          <p:nvPr/>
        </p:nvSpPr>
        <p:spPr>
          <a:xfrm>
            <a:off x="788212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7" name="Shape 75"/>
          <p:cNvSpPr/>
          <p:nvPr/>
        </p:nvSpPr>
        <p:spPr>
          <a:xfrm>
            <a:off x="838504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8" name="Shape 76"/>
          <p:cNvSpPr/>
          <p:nvPr/>
        </p:nvSpPr>
        <p:spPr>
          <a:xfrm>
            <a:off x="888796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9" name="Shape 77"/>
          <p:cNvSpPr/>
          <p:nvPr/>
        </p:nvSpPr>
        <p:spPr>
          <a:xfrm>
            <a:off x="7772400" y="2743200"/>
            <a:ext cx="1874520" cy="1828800"/>
          </a:xfrm>
          <a:prstGeom prst="rect">
            <a:avLst/>
          </a:prstGeom>
          <a:solidFill>
            <a:srgbClr val="0F172A">
              <a:alpha val="55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7795260" y="29489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FDF2F8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8435340" y="3131820"/>
            <a:ext cx="548640" cy="4572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82" name="Shape 80"/>
          <p:cNvSpPr/>
          <p:nvPr/>
        </p:nvSpPr>
        <p:spPr>
          <a:xfrm>
            <a:off x="8673084" y="3131820"/>
            <a:ext cx="7315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3" name="Shape 81"/>
          <p:cNvSpPr/>
          <p:nvPr/>
        </p:nvSpPr>
        <p:spPr>
          <a:xfrm>
            <a:off x="8435340" y="3332988"/>
            <a:ext cx="5486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4" name="Text 82"/>
          <p:cNvSpPr/>
          <p:nvPr/>
        </p:nvSpPr>
        <p:spPr>
          <a:xfrm>
            <a:off x="7795260" y="36987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E18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gift for you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7795260" y="39090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unwrap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8115300" y="4091940"/>
            <a:ext cx="1188720" cy="228600"/>
          </a:xfrm>
          <a:prstGeom prst="roundRect">
            <a:avLst>
              <a:gd name="adj" fmla="val 48000"/>
            </a:avLst>
          </a:prstGeom>
          <a:solidFill>
            <a:srgbClr val="EC4899"/>
          </a:solidFill>
          <a:ln/>
        </p:spPr>
      </p:sp>
      <p:sp>
        <p:nvSpPr>
          <p:cNvPr id="87" name="Text 85"/>
          <p:cNvSpPr/>
          <p:nvPr/>
        </p:nvSpPr>
        <p:spPr>
          <a:xfrm>
            <a:off x="8115300" y="40919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Unwrap My Gift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726680" y="462686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Box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7726680" y="4846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Playful, unwrap CTA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9966960" y="2286000"/>
            <a:ext cx="2148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10058400" y="235915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2" name="Text 90"/>
          <p:cNvSpPr/>
          <p:nvPr/>
        </p:nvSpPr>
        <p:spPr>
          <a:xfrm>
            <a:off x="1005840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10104120" y="2743200"/>
            <a:ext cx="187452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4" name="Shape 92"/>
          <p:cNvSpPr/>
          <p:nvPr/>
        </p:nvSpPr>
        <p:spPr>
          <a:xfrm>
            <a:off x="1021384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5" name="Shape 93"/>
          <p:cNvSpPr/>
          <p:nvPr/>
        </p:nvSpPr>
        <p:spPr>
          <a:xfrm>
            <a:off x="1071676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6" name="Shape 94"/>
          <p:cNvSpPr/>
          <p:nvPr/>
        </p:nvSpPr>
        <p:spPr>
          <a:xfrm>
            <a:off x="11219688" y="285292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7" name="Shape 95"/>
          <p:cNvSpPr/>
          <p:nvPr/>
        </p:nvSpPr>
        <p:spPr>
          <a:xfrm>
            <a:off x="1021384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8" name="Shape 96"/>
          <p:cNvSpPr/>
          <p:nvPr/>
        </p:nvSpPr>
        <p:spPr>
          <a:xfrm>
            <a:off x="1071676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9" name="Shape 97"/>
          <p:cNvSpPr/>
          <p:nvPr/>
        </p:nvSpPr>
        <p:spPr>
          <a:xfrm>
            <a:off x="11219688" y="3355848"/>
            <a:ext cx="411480" cy="4114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104120" y="2743200"/>
            <a:ext cx="1874520" cy="1828800"/>
          </a:xfrm>
          <a:prstGeom prst="rect">
            <a:avLst/>
          </a:prstGeom>
          <a:solidFill>
            <a:srgbClr val="0F172A">
              <a:alpha val="55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10035540" y="294894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10035540" y="2948940"/>
            <a:ext cx="201168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145268" y="3058668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4" name="Text 102"/>
          <p:cNvSpPr/>
          <p:nvPr/>
        </p:nvSpPr>
        <p:spPr>
          <a:xfrm>
            <a:off x="10538460" y="304038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10538460" y="31866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"Best purchase all year!"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10538460" y="3351276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Sarah M.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10035540" y="36621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15% off too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10309860" y="3973068"/>
            <a:ext cx="1463040" cy="292608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/>
        </p:spPr>
      </p:sp>
      <p:sp>
        <p:nvSpPr>
          <p:cNvPr id="109" name="Text 107"/>
          <p:cNvSpPr/>
          <p:nvPr/>
        </p:nvSpPr>
        <p:spPr>
          <a:xfrm>
            <a:off x="10309860" y="39730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Discount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10058400" y="462686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10058400" y="4846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 first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Resparq — Exit intent, evolved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11704320" y="6492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BRAND COLORS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modal inherits your brand.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install, Resparq detects your store's primary colors from Shopify theme settings. Every design template above inherits your palette </a:t>
            </a:r>
            <a:r>
              <a:rPr lang="en-US" sz="15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automatically, </a:t>
            </a: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design time required.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cascade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9992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theme settings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331012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brand tokens pulled from your theme.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40050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logo analysis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431596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Fallback,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colors extracted from your logo.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50109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override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532180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override any accent in one click.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560320"/>
            <a:ext cx="5120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2697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same template, two brands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3108960"/>
            <a:ext cx="2194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1821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2084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Wait! 15% off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3675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thank-you from us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58000" y="4114800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Discount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098280" y="3108960"/>
            <a:ext cx="2194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31821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18972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Wait! 15% off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89720" y="3675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thank-you from us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326880" y="4114800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B85042"/>
          </a:solidFill>
          <a:ln/>
        </p:spPr>
      </p:sp>
      <p:sp>
        <p:nvSpPr>
          <p:cNvPr id="31" name="Text 29"/>
          <p:cNvSpPr/>
          <p:nvPr/>
        </p:nvSpPr>
        <p:spPr>
          <a:xfrm>
            <a:off x="932688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Discount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83680" y="5623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template. Customer-detected palette.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Resparq — Exit intent, evolved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704320" y="6492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COMPETITIVE EDGE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Evolution beats A/B testing — structurally.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39496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A/B TESTING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"Set it once. Hope."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2–3 variants at a time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setup each round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2062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reach significance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7091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 between experiments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212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offer for every visitor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1737360"/>
            <a:ext cx="5394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1737360"/>
            <a:ext cx="539496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011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RESPARQ — EVOLUTIONARY AI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2331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"Compounds every day."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75120" y="3200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combinations in parallel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3703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 — zero ops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0" y="42062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confidence — faster decisions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47091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9516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generation compounds learnings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0" y="5212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9516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per visitor signals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Resparq — Exit intent, evolved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704320" y="6492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that scales with you.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 on every </a:t>
            </a:r>
            <a:r>
              <a:rPr lang="en-US" sz="13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 Cheaper if you commit yearly.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657600" cy="4288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514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1005840" y="3749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023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sessions/mo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4389120"/>
            <a:ext cx="29260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526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4526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47731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 templates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50200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50200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Auto-applied discounts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52669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52669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analytics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55138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13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2194560"/>
            <a:ext cx="3657600" cy="4288536"/>
          </a:xfrm>
          <a:prstGeom prst="rect">
            <a:avLst/>
          </a:prstGeom>
          <a:solidFill>
            <a:srgbClr val="0F172A"/>
          </a:solidFill>
          <a:ln w="25400">
            <a:solidFill>
              <a:srgbClr val="7C3AED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2029968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EC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20299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514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834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$79</a:t>
            </a:r>
            <a:endParaRPr lang="en-US" sz="6400" dirty="0"/>
          </a:p>
        </p:txBody>
      </p:sp>
      <p:sp>
        <p:nvSpPr>
          <p:cNvPr id="26" name="Text 24"/>
          <p:cNvSpPr/>
          <p:nvPr/>
        </p:nvSpPr>
        <p:spPr>
          <a:xfrm>
            <a:off x="4846320" y="3749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4023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sessions/mo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4389120"/>
            <a:ext cx="29260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4526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4526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47731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2064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Evolutionary AI engine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50200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50200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 Sampling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52669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20640" y="52669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protection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55138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20640" y="5513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321040" y="2194560"/>
            <a:ext cx="3657600" cy="4288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686800" y="2514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686800" y="2834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$199</a:t>
            </a:r>
            <a:endParaRPr lang="en-US" sz="6400" dirty="0"/>
          </a:p>
        </p:txBody>
      </p:sp>
      <p:sp>
        <p:nvSpPr>
          <p:cNvPr id="42" name="Text 40"/>
          <p:cNvSpPr/>
          <p:nvPr/>
        </p:nvSpPr>
        <p:spPr>
          <a:xfrm>
            <a:off x="8686800" y="3749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686800" y="4023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sessions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686800" y="4389120"/>
            <a:ext cx="29260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0" y="4526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961120" y="4526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686800" y="47731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96112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social proof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686800" y="50200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961120" y="50200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variant controls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686800" y="52669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961120" y="52669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tuning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686800" y="55138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961120" y="5513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Device-specific evolution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686800" y="5760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961120" y="5760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Brand-safety validation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686800" y="60076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961120" y="6007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intelligence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686800" y="62544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961120" y="62544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Resparq — Exit intent, evolved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1704320" y="6492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200400"/>
            <a:ext cx="5029200" cy="50292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 err="1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800" b="1" kern="0" spc="200" dirty="0" err="1" smtClean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esparq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stop guessing what converts?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14-day trial</a:t>
            </a:r>
            <a:r>
              <a:rPr lang="en-US" sz="18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2926080" cy="685800"/>
          </a:xfrm>
          <a:prstGeom prst="roundRect">
            <a:avLst>
              <a:gd name="adj" fmla="val 53333"/>
            </a:avLst>
          </a:prstGeom>
          <a:solidFill>
            <a:schemeClr val="bg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114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Start free trial →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74904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the Shopify App Store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943600"/>
            <a:ext cx="10972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126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resparq.ai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0" y="6126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intent, evolved.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949</Words>
  <Application>Microsoft Macintosh PowerPoint</Application>
  <PresentationFormat>Widescreen</PresentationFormat>
  <Paragraphs>281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Georgia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Resparq — Exit Intent, Evolved</dc:title>
  <dc:subject>PptxGenJS Presentation</dc:subject>
  <dc:creator>Resparq</dc:creator>
  <cp:lastModifiedBy>Microsoft Office User</cp:lastModifiedBy>
  <cp:revision>7</cp:revision>
  <dcterms:created xsi:type="dcterms:W3CDTF">2026-04-18T15:27:30Z</dcterms:created>
  <dcterms:modified xsi:type="dcterms:W3CDTF">2026-04-18T19:22:12Z</dcterms:modified>
</cp:coreProperties>
</file>